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62" r:id="rId4"/>
    <p:sldId id="260" r:id="rId5"/>
    <p:sldId id="261" r:id="rId6"/>
    <p:sldId id="264" r:id="rId7"/>
    <p:sldId id="263" r:id="rId8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420" autoAdjust="0"/>
  </p:normalViewPr>
  <p:slideViewPr>
    <p:cSldViewPr snapToGrid="0" snapToObjects="1">
      <p:cViewPr varScale="1">
        <p:scale>
          <a:sx n="118" d="100"/>
          <a:sy n="118" d="100"/>
        </p:scale>
        <p:origin x="-3224" y="-120"/>
      </p:cViewPr>
      <p:guideLst>
        <p:guide orient="horz" pos="3168"/>
        <p:guide pos="24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3124624"/>
            <a:ext cx="6606540" cy="21560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860" y="5699760"/>
            <a:ext cx="5440680" cy="2570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59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966" y="6463454"/>
            <a:ext cx="6606540" cy="199771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966" y="4263180"/>
            <a:ext cx="6606540" cy="22002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9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097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251499"/>
            <a:ext cx="3434160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" y="3189817"/>
            <a:ext cx="3434160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8272" y="2251499"/>
            <a:ext cx="3435509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8272" y="3189817"/>
            <a:ext cx="3435509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1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6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5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400473"/>
            <a:ext cx="2557066" cy="17043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8792" y="400474"/>
            <a:ext cx="4344988" cy="85845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620" y="2104814"/>
            <a:ext cx="2557066" cy="68802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9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445" y="7040880"/>
            <a:ext cx="4663440" cy="83121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3445" y="898737"/>
            <a:ext cx="4663440" cy="60350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3445" y="7872096"/>
            <a:ext cx="4663440" cy="1180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2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571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4990" y="402803"/>
            <a:ext cx="1748790" cy="85822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620" y="402803"/>
            <a:ext cx="5116830" cy="85822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51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8620" y="402802"/>
            <a:ext cx="6995160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346961"/>
            <a:ext cx="6995160" cy="6638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620" y="9322647"/>
            <a:ext cx="18135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4FA10-C146-CB4B-88E3-77AA42B27AF1}" type="datetimeFigureOut">
              <a:rPr lang="en-US" smtClean="0"/>
              <a:t>4/19/16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55570" y="9322647"/>
            <a:ext cx="24612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70220" y="9322647"/>
            <a:ext cx="18135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95055-1D53-4C46-A7ED-8B07C2317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8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62123" y="93770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Start</a:t>
            </a:r>
            <a:endParaRPr lang="en-US" sz="1000" dirty="0"/>
          </a:p>
        </p:txBody>
      </p:sp>
      <p:sp>
        <p:nvSpPr>
          <p:cNvPr id="8" name="Parallelogram 7"/>
          <p:cNvSpPr/>
          <p:nvPr/>
        </p:nvSpPr>
        <p:spPr>
          <a:xfrm>
            <a:off x="2805471" y="867999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 smtClean="0"/>
              <a:t>Receive list of numbers from user. Store as </a:t>
            </a:r>
            <a:r>
              <a:rPr lang="en-US" sz="1000" b="1" dirty="0" err="1" smtClean="0"/>
              <a:t>theList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2959961" y="1711814"/>
            <a:ext cx="1361195" cy="452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err="1" smtClean="0"/>
              <a:t>listIndex</a:t>
            </a:r>
            <a:r>
              <a:rPr lang="en-US" sz="1000" dirty="0" smtClean="0"/>
              <a:t> to 1</a:t>
            </a:r>
            <a:endParaRPr lang="en-US" sz="1000" dirty="0"/>
          </a:p>
        </p:txBody>
      </p:sp>
      <p:sp>
        <p:nvSpPr>
          <p:cNvPr id="13" name="Diamond 12"/>
          <p:cNvSpPr/>
          <p:nvPr/>
        </p:nvSpPr>
        <p:spPr>
          <a:xfrm>
            <a:off x="2604198" y="4568543"/>
            <a:ext cx="2072721" cy="9569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/>
              <a:t>newListIndex</a:t>
            </a:r>
            <a:r>
              <a:rPr lang="en-US" sz="1000" dirty="0" smtClean="0"/>
              <a:t> &gt; size of </a:t>
            </a:r>
            <a:r>
              <a:rPr lang="en-US" sz="1000" b="1" dirty="0" err="1" smtClean="0"/>
              <a:t>newList</a:t>
            </a:r>
            <a:r>
              <a:rPr lang="en-US" sz="1000" dirty="0" smtClean="0"/>
              <a:t>?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2959961" y="2325750"/>
            <a:ext cx="1361195" cy="452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Create </a:t>
            </a:r>
            <a:r>
              <a:rPr lang="en-US" sz="1000" b="1" dirty="0" err="1" smtClean="0"/>
              <a:t>newList</a:t>
            </a:r>
            <a:r>
              <a:rPr lang="en-US" sz="1000" dirty="0" smtClean="0"/>
              <a:t> with no items</a:t>
            </a: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2959961" y="2918161"/>
            <a:ext cx="1361195" cy="7869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smtClean="0"/>
              <a:t>temp</a:t>
            </a:r>
            <a:r>
              <a:rPr lang="en-US" sz="1000" dirty="0" smtClean="0"/>
              <a:t> to be equal to the item at position </a:t>
            </a:r>
            <a:r>
              <a:rPr lang="en-US" sz="1000" b="1" dirty="0" err="1" smtClean="0"/>
              <a:t>listIndex</a:t>
            </a:r>
            <a:r>
              <a:rPr lang="en-US" sz="1000" dirty="0" smtClean="0"/>
              <a:t> in </a:t>
            </a:r>
            <a:r>
              <a:rPr lang="en-US" sz="1000" b="1" dirty="0" err="1" smtClean="0"/>
              <a:t>theList</a:t>
            </a:r>
            <a:endParaRPr lang="en-US" sz="1000" b="1" dirty="0"/>
          </a:p>
        </p:txBody>
      </p:sp>
      <p:sp>
        <p:nvSpPr>
          <p:cNvPr id="16" name="Rectangle 15"/>
          <p:cNvSpPr/>
          <p:nvPr/>
        </p:nvSpPr>
        <p:spPr>
          <a:xfrm>
            <a:off x="2959961" y="3860612"/>
            <a:ext cx="1361195" cy="452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err="1" smtClean="0"/>
              <a:t>newListIndex</a:t>
            </a:r>
            <a:r>
              <a:rPr lang="en-US" sz="1000" dirty="0" smtClean="0"/>
              <a:t> to 1</a:t>
            </a:r>
            <a:endParaRPr lang="en-US" sz="1000" dirty="0"/>
          </a:p>
        </p:txBody>
      </p:sp>
      <p:sp>
        <p:nvSpPr>
          <p:cNvPr id="19" name="Rectangle 18"/>
          <p:cNvSpPr/>
          <p:nvPr/>
        </p:nvSpPr>
        <p:spPr>
          <a:xfrm>
            <a:off x="5123607" y="6704901"/>
            <a:ext cx="1361195" cy="452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Increase </a:t>
            </a:r>
            <a:r>
              <a:rPr lang="en-US" sz="1000" b="1" dirty="0" err="1" smtClean="0"/>
              <a:t>listIndex</a:t>
            </a:r>
            <a:r>
              <a:rPr lang="en-US" sz="1000" dirty="0" smtClean="0"/>
              <a:t> by 1</a:t>
            </a:r>
            <a:endParaRPr lang="en-US" sz="1000" b="1" dirty="0"/>
          </a:p>
        </p:txBody>
      </p:sp>
      <p:sp>
        <p:nvSpPr>
          <p:cNvPr id="20" name="Diamond 19"/>
          <p:cNvSpPr/>
          <p:nvPr/>
        </p:nvSpPr>
        <p:spPr>
          <a:xfrm>
            <a:off x="4776590" y="7347712"/>
            <a:ext cx="2072721" cy="9569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/>
              <a:t>listIndex</a:t>
            </a:r>
            <a:r>
              <a:rPr lang="en-US" sz="1000" b="1" dirty="0" smtClean="0"/>
              <a:t> </a:t>
            </a:r>
            <a:r>
              <a:rPr lang="en-US" sz="1000" dirty="0" smtClean="0"/>
              <a:t>&gt; size of </a:t>
            </a:r>
            <a:r>
              <a:rPr lang="en-US" sz="1000" b="1" dirty="0" err="1" smtClean="0"/>
              <a:t>theList</a:t>
            </a:r>
            <a:r>
              <a:rPr lang="en-US" sz="1000" dirty="0" smtClean="0"/>
              <a:t>?</a:t>
            </a:r>
            <a:endParaRPr lang="en-US" sz="1000" dirty="0"/>
          </a:p>
        </p:txBody>
      </p:sp>
      <p:sp>
        <p:nvSpPr>
          <p:cNvPr id="21" name="Oval 20"/>
          <p:cNvSpPr/>
          <p:nvPr/>
        </p:nvSpPr>
        <p:spPr>
          <a:xfrm>
            <a:off x="5258316" y="9367384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End</a:t>
            </a:r>
            <a:endParaRPr lang="en-US" sz="1000" dirty="0"/>
          </a:p>
        </p:txBody>
      </p:sp>
      <p:sp>
        <p:nvSpPr>
          <p:cNvPr id="22" name="Diamond 21"/>
          <p:cNvSpPr/>
          <p:nvPr/>
        </p:nvSpPr>
        <p:spPr>
          <a:xfrm>
            <a:off x="2604198" y="5762458"/>
            <a:ext cx="2072721" cy="9569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t</a:t>
            </a:r>
            <a:r>
              <a:rPr lang="en-US" sz="1000" b="1" dirty="0" smtClean="0"/>
              <a:t>emp &lt; </a:t>
            </a:r>
            <a:r>
              <a:rPr lang="en-US" sz="1000" dirty="0" smtClean="0"/>
              <a:t>item at position </a:t>
            </a:r>
            <a:r>
              <a:rPr lang="en-US" sz="1000" b="1" dirty="0" err="1" smtClean="0"/>
              <a:t>newListIndex</a:t>
            </a:r>
            <a:r>
              <a:rPr lang="en-US" sz="1000" b="1" dirty="0" smtClean="0"/>
              <a:t> </a:t>
            </a:r>
            <a:r>
              <a:rPr lang="en-US" sz="1000" dirty="0" smtClean="0"/>
              <a:t>in</a:t>
            </a:r>
            <a:r>
              <a:rPr lang="en-US" sz="1000" b="1" dirty="0" smtClean="0"/>
              <a:t> </a:t>
            </a:r>
            <a:r>
              <a:rPr lang="en-US" sz="1000" b="1" dirty="0" err="1" smtClean="0"/>
              <a:t>newLIst</a:t>
            </a:r>
            <a:r>
              <a:rPr lang="en-US" sz="1000" b="1" dirty="0" smtClean="0"/>
              <a:t>?</a:t>
            </a:r>
            <a:endParaRPr lang="en-US" sz="1000" dirty="0"/>
          </a:p>
        </p:txBody>
      </p:sp>
      <p:sp>
        <p:nvSpPr>
          <p:cNvPr id="23" name="Rectangle 22"/>
          <p:cNvSpPr/>
          <p:nvPr/>
        </p:nvSpPr>
        <p:spPr>
          <a:xfrm>
            <a:off x="5123607" y="5940695"/>
            <a:ext cx="1361195" cy="606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Add </a:t>
            </a:r>
            <a:r>
              <a:rPr lang="en-US" sz="1000" b="1" dirty="0" smtClean="0"/>
              <a:t>temp</a:t>
            </a:r>
            <a:r>
              <a:rPr lang="en-US" sz="1000" dirty="0" smtClean="0"/>
              <a:t> to </a:t>
            </a:r>
            <a:r>
              <a:rPr lang="en-US" sz="1000" b="1" dirty="0" err="1" smtClean="0"/>
              <a:t>newList</a:t>
            </a:r>
            <a:r>
              <a:rPr lang="en-US" sz="1000" dirty="0" smtClean="0"/>
              <a:t> at position </a:t>
            </a:r>
            <a:r>
              <a:rPr lang="en-US" sz="1000" b="1" dirty="0" err="1" smtClean="0"/>
              <a:t>newListIndex</a:t>
            </a:r>
            <a:endParaRPr lang="en-US" sz="1000" b="1" dirty="0"/>
          </a:p>
        </p:txBody>
      </p:sp>
      <p:sp>
        <p:nvSpPr>
          <p:cNvPr id="24" name="Rectangle 23"/>
          <p:cNvSpPr/>
          <p:nvPr/>
        </p:nvSpPr>
        <p:spPr>
          <a:xfrm>
            <a:off x="904327" y="5950703"/>
            <a:ext cx="1361195" cy="606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Increase </a:t>
            </a:r>
            <a:r>
              <a:rPr lang="en-US" sz="1000" b="1" dirty="0" err="1" smtClean="0"/>
              <a:t>newListIndex</a:t>
            </a:r>
            <a:r>
              <a:rPr lang="en-US" sz="1000" b="1" dirty="0" smtClean="0"/>
              <a:t> </a:t>
            </a:r>
            <a:r>
              <a:rPr lang="en-US" sz="1000" dirty="0" smtClean="0"/>
              <a:t>by 1</a:t>
            </a:r>
            <a:endParaRPr lang="en-US" sz="1000" b="1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640558" y="679172"/>
            <a:ext cx="0" cy="1888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8" idx="4"/>
            <a:endCxn id="9" idx="0"/>
          </p:cNvCxnSpPr>
          <p:nvPr/>
        </p:nvCxnSpPr>
        <p:spPr>
          <a:xfrm>
            <a:off x="3640558" y="1511733"/>
            <a:ext cx="1" cy="20008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2"/>
            <a:endCxn id="14" idx="0"/>
          </p:cNvCxnSpPr>
          <p:nvPr/>
        </p:nvCxnSpPr>
        <p:spPr>
          <a:xfrm>
            <a:off x="3640559" y="2164168"/>
            <a:ext cx="0" cy="161582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2"/>
            <a:endCxn id="15" idx="0"/>
          </p:cNvCxnSpPr>
          <p:nvPr/>
        </p:nvCxnSpPr>
        <p:spPr>
          <a:xfrm>
            <a:off x="3640559" y="2778104"/>
            <a:ext cx="0" cy="140057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5" idx="2"/>
            <a:endCxn id="16" idx="0"/>
          </p:cNvCxnSpPr>
          <p:nvPr/>
        </p:nvCxnSpPr>
        <p:spPr>
          <a:xfrm>
            <a:off x="3640559" y="3705080"/>
            <a:ext cx="0" cy="155532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6" idx="2"/>
            <a:endCxn id="13" idx="0"/>
          </p:cNvCxnSpPr>
          <p:nvPr/>
        </p:nvCxnSpPr>
        <p:spPr>
          <a:xfrm>
            <a:off x="3640559" y="4312966"/>
            <a:ext cx="0" cy="255577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Elbow Connector 48"/>
          <p:cNvCxnSpPr>
            <a:stCxn id="13" idx="3"/>
            <a:endCxn id="23" idx="0"/>
          </p:cNvCxnSpPr>
          <p:nvPr/>
        </p:nvCxnSpPr>
        <p:spPr>
          <a:xfrm>
            <a:off x="4676919" y="5046997"/>
            <a:ext cx="1127286" cy="89369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3" idx="2"/>
            <a:endCxn id="22" idx="0"/>
          </p:cNvCxnSpPr>
          <p:nvPr/>
        </p:nvCxnSpPr>
        <p:spPr>
          <a:xfrm>
            <a:off x="3640559" y="5525450"/>
            <a:ext cx="0" cy="237008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22" idx="3"/>
            <a:endCxn id="23" idx="1"/>
          </p:cNvCxnSpPr>
          <p:nvPr/>
        </p:nvCxnSpPr>
        <p:spPr>
          <a:xfrm>
            <a:off x="4676919" y="6240912"/>
            <a:ext cx="446688" cy="3204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23" idx="2"/>
            <a:endCxn id="19" idx="0"/>
          </p:cNvCxnSpPr>
          <p:nvPr/>
        </p:nvCxnSpPr>
        <p:spPr>
          <a:xfrm>
            <a:off x="5804205" y="6547536"/>
            <a:ext cx="0" cy="157365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22" idx="1"/>
            <a:endCxn id="24" idx="3"/>
          </p:cNvCxnSpPr>
          <p:nvPr/>
        </p:nvCxnSpPr>
        <p:spPr>
          <a:xfrm flipH="1">
            <a:off x="2265522" y="6240912"/>
            <a:ext cx="338676" cy="13212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stCxn id="19" idx="2"/>
            <a:endCxn id="20" idx="0"/>
          </p:cNvCxnSpPr>
          <p:nvPr/>
        </p:nvCxnSpPr>
        <p:spPr>
          <a:xfrm>
            <a:off x="5804205" y="7157137"/>
            <a:ext cx="8746" cy="190575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20" idx="2"/>
            <a:endCxn id="86" idx="0"/>
          </p:cNvCxnSpPr>
          <p:nvPr/>
        </p:nvCxnSpPr>
        <p:spPr>
          <a:xfrm>
            <a:off x="5812951" y="8304619"/>
            <a:ext cx="0" cy="24982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24" idx="0"/>
            <a:endCxn id="13" idx="1"/>
          </p:cNvCxnSpPr>
          <p:nvPr/>
        </p:nvCxnSpPr>
        <p:spPr>
          <a:xfrm rot="5400000" flipH="1" flipV="1">
            <a:off x="1642708" y="4989214"/>
            <a:ext cx="903706" cy="1019273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049131" y="4766565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3601422" y="5461950"/>
            <a:ext cx="319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76" name="TextBox 75"/>
          <p:cNvSpPr txBox="1"/>
          <p:nvPr/>
        </p:nvSpPr>
        <p:spPr>
          <a:xfrm>
            <a:off x="2322776" y="6007903"/>
            <a:ext cx="319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77" name="TextBox 76"/>
          <p:cNvSpPr txBox="1"/>
          <p:nvPr/>
        </p:nvSpPr>
        <p:spPr>
          <a:xfrm>
            <a:off x="4676919" y="5998195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78" name="TextBox 77"/>
          <p:cNvSpPr txBox="1"/>
          <p:nvPr/>
        </p:nvSpPr>
        <p:spPr>
          <a:xfrm>
            <a:off x="5787551" y="8257419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cxnSp>
        <p:nvCxnSpPr>
          <p:cNvPr id="80" name="Elbow Connector 79"/>
          <p:cNvCxnSpPr>
            <a:stCxn id="20" idx="3"/>
            <a:endCxn id="15" idx="3"/>
          </p:cNvCxnSpPr>
          <p:nvPr/>
        </p:nvCxnSpPr>
        <p:spPr>
          <a:xfrm flipH="1" flipV="1">
            <a:off x="4321156" y="3311621"/>
            <a:ext cx="2528155" cy="4514545"/>
          </a:xfrm>
          <a:prstGeom prst="bentConnector3">
            <a:avLst>
              <a:gd name="adj1" fmla="val -9042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765676" y="7656145"/>
            <a:ext cx="319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86" name="Parallelogram 85"/>
          <p:cNvSpPr/>
          <p:nvPr/>
        </p:nvSpPr>
        <p:spPr>
          <a:xfrm>
            <a:off x="4977864" y="8554440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 smtClean="0"/>
              <a:t>Output </a:t>
            </a:r>
            <a:r>
              <a:rPr lang="en-US" sz="1000" b="1" dirty="0" err="1" smtClean="0"/>
              <a:t>newList</a:t>
            </a:r>
            <a:endParaRPr lang="en-US" sz="1000" b="1" dirty="0"/>
          </a:p>
        </p:txBody>
      </p:sp>
      <p:sp>
        <p:nvSpPr>
          <p:cNvPr id="89" name="TextBox 88"/>
          <p:cNvSpPr txBox="1"/>
          <p:nvPr/>
        </p:nvSpPr>
        <p:spPr>
          <a:xfrm>
            <a:off x="5358981" y="87228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A</a:t>
            </a:r>
            <a:endParaRPr lang="en-US" sz="3600" dirty="0"/>
          </a:p>
        </p:txBody>
      </p:sp>
      <p:cxnSp>
        <p:nvCxnSpPr>
          <p:cNvPr id="90" name="Straight Arrow Connector 89"/>
          <p:cNvCxnSpPr>
            <a:stCxn id="89" idx="1"/>
            <a:endCxn id="8" idx="2"/>
          </p:cNvCxnSpPr>
          <p:nvPr/>
        </p:nvCxnSpPr>
        <p:spPr>
          <a:xfrm flipH="1" flipV="1">
            <a:off x="4395178" y="1189866"/>
            <a:ext cx="963803" cy="5586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422665" y="8551843"/>
            <a:ext cx="435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</a:t>
            </a:r>
          </a:p>
        </p:txBody>
      </p:sp>
      <p:cxnSp>
        <p:nvCxnSpPr>
          <p:cNvPr id="94" name="Straight Arrow Connector 93"/>
          <p:cNvCxnSpPr>
            <a:stCxn id="86" idx="5"/>
            <a:endCxn id="93" idx="3"/>
          </p:cNvCxnSpPr>
          <p:nvPr/>
        </p:nvCxnSpPr>
        <p:spPr>
          <a:xfrm flipH="1" flipV="1">
            <a:off x="3858451" y="8875009"/>
            <a:ext cx="1199880" cy="1298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6" idx="3"/>
            <a:endCxn id="21" idx="0"/>
          </p:cNvCxnSpPr>
          <p:nvPr/>
        </p:nvCxnSpPr>
        <p:spPr>
          <a:xfrm>
            <a:off x="5732484" y="9198174"/>
            <a:ext cx="4267" cy="169210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02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99762" y="93770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Start</a:t>
            </a:r>
            <a:endParaRPr lang="en-US" sz="1000" dirty="0"/>
          </a:p>
        </p:txBody>
      </p:sp>
      <p:sp>
        <p:nvSpPr>
          <p:cNvPr id="8" name="Parallelogram 7"/>
          <p:cNvSpPr/>
          <p:nvPr/>
        </p:nvSpPr>
        <p:spPr>
          <a:xfrm>
            <a:off x="2843110" y="867999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 smtClean="0"/>
              <a:t>Receive list of numbers from user. Store as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2997600" y="1711814"/>
            <a:ext cx="1361195" cy="452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err="1" smtClean="0">
                <a:latin typeface="Courier"/>
                <a:cs typeface="Courier"/>
              </a:rPr>
              <a:t>i</a:t>
            </a:r>
            <a:r>
              <a:rPr lang="en-US" sz="1000" b="1" dirty="0"/>
              <a:t> </a:t>
            </a:r>
            <a:r>
              <a:rPr lang="en-US" sz="1000" dirty="0" smtClean="0"/>
              <a:t>to 1</a:t>
            </a: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2997600" y="2369605"/>
            <a:ext cx="1361195" cy="7869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>
                <a:latin typeface="Courier"/>
                <a:cs typeface="Courier"/>
              </a:rPr>
              <a:t>m</a:t>
            </a:r>
            <a:r>
              <a:rPr lang="en-US" sz="1000" b="1" dirty="0" smtClean="0"/>
              <a:t> </a:t>
            </a:r>
            <a:r>
              <a:rPr lang="en-US" sz="1000" dirty="0" smtClean="0"/>
              <a:t>to be equal to the item at position </a:t>
            </a:r>
            <a:r>
              <a:rPr lang="en-US" sz="1000" b="1" dirty="0" err="1">
                <a:latin typeface="Courier"/>
                <a:cs typeface="Courier"/>
              </a:rPr>
              <a:t>i</a:t>
            </a:r>
            <a:r>
              <a:rPr lang="en-US" sz="1000" b="1" dirty="0" smtClean="0"/>
              <a:t> </a:t>
            </a:r>
            <a:r>
              <a:rPr lang="en-US" sz="1000" dirty="0" smtClean="0"/>
              <a:t>in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206112" y="8977006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End</a:t>
            </a:r>
            <a:endParaRPr lang="en-US" sz="10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678197" y="679172"/>
            <a:ext cx="0" cy="1888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78197" y="1511733"/>
            <a:ext cx="1" cy="20008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3659378" y="2164168"/>
            <a:ext cx="37639" cy="161582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3678197" y="7977328"/>
            <a:ext cx="0" cy="186734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499859" y="8129031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4666317" y="4606039"/>
            <a:ext cx="319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86" name="Parallelogram 85"/>
          <p:cNvSpPr/>
          <p:nvPr/>
        </p:nvSpPr>
        <p:spPr>
          <a:xfrm>
            <a:off x="2843110" y="8164062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Output </a:t>
            </a:r>
            <a:r>
              <a:rPr lang="en-US" sz="1000" b="1" dirty="0" smtClean="0">
                <a:latin typeface="Courier"/>
                <a:cs typeface="Courier"/>
              </a:rPr>
              <a:t>m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58981" y="87228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A</a:t>
            </a:r>
            <a:endParaRPr lang="en-US" sz="3600" dirty="0"/>
          </a:p>
        </p:txBody>
      </p:sp>
      <p:cxnSp>
        <p:nvCxnSpPr>
          <p:cNvPr id="90" name="Straight Arrow Connector 89"/>
          <p:cNvCxnSpPr>
            <a:stCxn id="89" idx="1"/>
            <a:endCxn id="8" idx="2"/>
          </p:cNvCxnSpPr>
          <p:nvPr/>
        </p:nvCxnSpPr>
        <p:spPr>
          <a:xfrm flipH="1" flipV="1">
            <a:off x="4432817" y="1189866"/>
            <a:ext cx="926164" cy="5586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309414" y="8161465"/>
            <a:ext cx="435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</a:t>
            </a:r>
          </a:p>
        </p:txBody>
      </p:sp>
      <p:cxnSp>
        <p:nvCxnSpPr>
          <p:cNvPr id="94" name="Straight Arrow Connector 93"/>
          <p:cNvCxnSpPr>
            <a:stCxn id="86" idx="5"/>
            <a:endCxn id="93" idx="3"/>
          </p:cNvCxnSpPr>
          <p:nvPr/>
        </p:nvCxnSpPr>
        <p:spPr>
          <a:xfrm flipH="1" flipV="1">
            <a:off x="1745200" y="8484631"/>
            <a:ext cx="1178377" cy="1298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6" idx="4"/>
            <a:endCxn id="21" idx="0"/>
          </p:cNvCxnSpPr>
          <p:nvPr/>
        </p:nvCxnSpPr>
        <p:spPr>
          <a:xfrm>
            <a:off x="3678197" y="8807796"/>
            <a:ext cx="6350" cy="169210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997600" y="5545110"/>
            <a:ext cx="1361195" cy="452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smtClean="0">
                <a:latin typeface="Courier"/>
                <a:cs typeface="Courier"/>
              </a:rPr>
              <a:t>m</a:t>
            </a:r>
            <a:r>
              <a:rPr lang="en-US" sz="1000" b="1" dirty="0" smtClean="0"/>
              <a:t> </a:t>
            </a:r>
            <a:r>
              <a:rPr lang="en-US" sz="1000" dirty="0" smtClean="0"/>
              <a:t>equal to</a:t>
            </a:r>
            <a:r>
              <a:rPr lang="en-US" sz="1000" b="1" dirty="0" smtClean="0"/>
              <a:t> </a:t>
            </a:r>
            <a:r>
              <a:rPr lang="en-US" sz="1000" b="1" dirty="0" smtClean="0">
                <a:latin typeface="Courier"/>
                <a:cs typeface="Courier"/>
              </a:rPr>
              <a:t>x</a:t>
            </a:r>
            <a:endParaRPr lang="en-US" sz="1000" dirty="0">
              <a:latin typeface="Courier"/>
              <a:cs typeface="Courier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997600" y="3355845"/>
            <a:ext cx="1361195" cy="7869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smtClean="0">
                <a:latin typeface="Courier"/>
                <a:cs typeface="Courier"/>
              </a:rPr>
              <a:t>x</a:t>
            </a:r>
            <a:r>
              <a:rPr lang="en-US" sz="1000" b="1" dirty="0" smtClean="0"/>
              <a:t> </a:t>
            </a:r>
            <a:r>
              <a:rPr lang="en-US" sz="1000" dirty="0" smtClean="0"/>
              <a:t>to be equal to the item at position </a:t>
            </a:r>
            <a:r>
              <a:rPr lang="en-US" sz="1000" b="1" dirty="0" err="1">
                <a:latin typeface="Courier"/>
                <a:cs typeface="Courier"/>
              </a:rPr>
              <a:t>i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/>
              <a:t>in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endParaRPr lang="en-US" sz="1000" b="1" dirty="0">
              <a:latin typeface="Courier"/>
              <a:cs typeface="Courier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3678197" y="3156524"/>
            <a:ext cx="0" cy="19932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97600" y="6377610"/>
            <a:ext cx="1361195" cy="452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Increase </a:t>
            </a:r>
            <a:r>
              <a:rPr lang="en-US" sz="1000" b="1" dirty="0" err="1" smtClean="0">
                <a:latin typeface="Courier"/>
                <a:cs typeface="Courier"/>
              </a:rPr>
              <a:t>i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/>
              <a:t>by 1</a:t>
            </a:r>
            <a:endParaRPr lang="en-US" sz="1000" b="1" dirty="0"/>
          </a:p>
        </p:txBody>
      </p:sp>
      <p:sp>
        <p:nvSpPr>
          <p:cNvPr id="53" name="Diamond 52"/>
          <p:cNvSpPr/>
          <p:nvPr/>
        </p:nvSpPr>
        <p:spPr>
          <a:xfrm>
            <a:off x="2641837" y="7020421"/>
            <a:ext cx="2072721" cy="9569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latin typeface="Courier"/>
                <a:cs typeface="Courier"/>
              </a:rPr>
              <a:t>i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/>
              <a:t>&gt; size of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r>
              <a:rPr lang="en-US" sz="1000" dirty="0" smtClean="0"/>
              <a:t>?</a:t>
            </a:r>
            <a:endParaRPr lang="en-US" sz="1000" dirty="0"/>
          </a:p>
        </p:txBody>
      </p:sp>
      <p:sp>
        <p:nvSpPr>
          <p:cNvPr id="55" name="Diamond 54"/>
          <p:cNvSpPr/>
          <p:nvPr/>
        </p:nvSpPr>
        <p:spPr>
          <a:xfrm>
            <a:off x="2641837" y="4362026"/>
            <a:ext cx="2072721" cy="9569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latin typeface="Courier"/>
                <a:cs typeface="Courier"/>
              </a:rPr>
              <a:t>x</a:t>
            </a:r>
            <a:r>
              <a:rPr lang="en-US" sz="1000" b="1" dirty="0" smtClean="0"/>
              <a:t> &gt; </a:t>
            </a:r>
            <a:r>
              <a:rPr lang="en-US" sz="1000" b="1" dirty="0" smtClean="0">
                <a:latin typeface="Courier"/>
                <a:cs typeface="Courier"/>
              </a:rPr>
              <a:t>m</a:t>
            </a:r>
            <a:r>
              <a:rPr lang="en-US" sz="1000" b="1" dirty="0" smtClean="0"/>
              <a:t>?</a:t>
            </a:r>
            <a:endParaRPr lang="en-US" sz="1000" dirty="0"/>
          </a:p>
        </p:txBody>
      </p:sp>
      <p:cxnSp>
        <p:nvCxnSpPr>
          <p:cNvPr id="25" name="Elbow Connector 24"/>
          <p:cNvCxnSpPr>
            <a:stCxn id="55" idx="3"/>
            <a:endCxn id="52" idx="3"/>
          </p:cNvCxnSpPr>
          <p:nvPr/>
        </p:nvCxnSpPr>
        <p:spPr>
          <a:xfrm flipH="1">
            <a:off x="4358795" y="4840480"/>
            <a:ext cx="355763" cy="1763248"/>
          </a:xfrm>
          <a:prstGeom prst="bentConnector3">
            <a:avLst>
              <a:gd name="adj1" fmla="val -64256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3678197" y="4142764"/>
            <a:ext cx="0" cy="219262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678197" y="5318933"/>
            <a:ext cx="0" cy="226177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678197" y="5997464"/>
            <a:ext cx="0" cy="380146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678197" y="6829846"/>
            <a:ext cx="0" cy="190575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53" idx="3"/>
            <a:endCxn id="48" idx="3"/>
          </p:cNvCxnSpPr>
          <p:nvPr/>
        </p:nvCxnSpPr>
        <p:spPr>
          <a:xfrm flipH="1" flipV="1">
            <a:off x="4358795" y="3749305"/>
            <a:ext cx="355763" cy="3749570"/>
          </a:xfrm>
          <a:prstGeom prst="bentConnector3">
            <a:avLst>
              <a:gd name="adj1" fmla="val -16196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664955" y="5244536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3721335" y="7915244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4666317" y="7248807"/>
            <a:ext cx="319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240642" y="320853"/>
            <a:ext cx="13807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Practice Test</a:t>
            </a:r>
          </a:p>
          <a:p>
            <a:r>
              <a:rPr lang="en-US" dirty="0" smtClean="0"/>
              <a:t>Mystery </a:t>
            </a:r>
          </a:p>
          <a:p>
            <a:r>
              <a:rPr lang="en-US" dirty="0" smtClean="0"/>
              <a:t>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952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99762" y="93770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Start</a:t>
            </a:r>
            <a:endParaRPr lang="en-US" sz="1000" dirty="0"/>
          </a:p>
        </p:txBody>
      </p:sp>
      <p:sp>
        <p:nvSpPr>
          <p:cNvPr id="8" name="Parallelogram 7"/>
          <p:cNvSpPr/>
          <p:nvPr/>
        </p:nvSpPr>
        <p:spPr>
          <a:xfrm>
            <a:off x="2843110" y="867999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 smtClean="0"/>
              <a:t>Receive list of numbers from user. Store as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2997600" y="1711814"/>
            <a:ext cx="1361195" cy="452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err="1" smtClean="0">
                <a:latin typeface="Courier"/>
                <a:cs typeface="Courier"/>
              </a:rPr>
              <a:t>i</a:t>
            </a:r>
            <a:r>
              <a:rPr lang="en-US" sz="1000" b="1" dirty="0"/>
              <a:t> </a:t>
            </a:r>
            <a:r>
              <a:rPr lang="en-US" sz="1000" dirty="0" smtClean="0"/>
              <a:t>to 1</a:t>
            </a:r>
            <a:endParaRPr lang="en-US" sz="1000" dirty="0"/>
          </a:p>
        </p:txBody>
      </p:sp>
      <p:sp>
        <p:nvSpPr>
          <p:cNvPr id="15" name="Rectangle 14"/>
          <p:cNvSpPr/>
          <p:nvPr/>
        </p:nvSpPr>
        <p:spPr>
          <a:xfrm>
            <a:off x="2997600" y="2369605"/>
            <a:ext cx="1361195" cy="7869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>
                <a:latin typeface="Courier"/>
                <a:cs typeface="Courier"/>
              </a:rPr>
              <a:t>m</a:t>
            </a:r>
            <a:r>
              <a:rPr lang="en-US" sz="1000" b="1" dirty="0" smtClean="0"/>
              <a:t> </a:t>
            </a:r>
            <a:r>
              <a:rPr lang="en-US" sz="1000" dirty="0" smtClean="0"/>
              <a:t>to be equal to the item at position </a:t>
            </a:r>
            <a:r>
              <a:rPr lang="en-US" sz="1000" b="1" dirty="0" err="1">
                <a:latin typeface="Courier"/>
                <a:cs typeface="Courier"/>
              </a:rPr>
              <a:t>i</a:t>
            </a:r>
            <a:r>
              <a:rPr lang="en-US" sz="1000" b="1" dirty="0" smtClean="0"/>
              <a:t> </a:t>
            </a:r>
            <a:r>
              <a:rPr lang="en-US" sz="1000" dirty="0" smtClean="0"/>
              <a:t>in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3206112" y="8977006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End</a:t>
            </a:r>
            <a:endParaRPr lang="en-US" sz="10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678197" y="679172"/>
            <a:ext cx="0" cy="1888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78197" y="1511733"/>
            <a:ext cx="1" cy="20008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3659378" y="2164168"/>
            <a:ext cx="37639" cy="161582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3678197" y="7977328"/>
            <a:ext cx="0" cy="186734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3499859" y="8129031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84" name="TextBox 83"/>
          <p:cNvSpPr txBox="1"/>
          <p:nvPr/>
        </p:nvSpPr>
        <p:spPr>
          <a:xfrm>
            <a:off x="4666317" y="4606039"/>
            <a:ext cx="319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86" name="Parallelogram 85"/>
          <p:cNvSpPr/>
          <p:nvPr/>
        </p:nvSpPr>
        <p:spPr>
          <a:xfrm>
            <a:off x="2843110" y="8164062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Output </a:t>
            </a:r>
            <a:r>
              <a:rPr lang="en-US" sz="1000" b="1" dirty="0" smtClean="0">
                <a:latin typeface="Courier"/>
                <a:cs typeface="Courier"/>
              </a:rPr>
              <a:t>m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358981" y="87228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A</a:t>
            </a:r>
            <a:endParaRPr lang="en-US" sz="3600" dirty="0"/>
          </a:p>
        </p:txBody>
      </p:sp>
      <p:cxnSp>
        <p:nvCxnSpPr>
          <p:cNvPr id="90" name="Straight Arrow Connector 89"/>
          <p:cNvCxnSpPr>
            <a:stCxn id="89" idx="1"/>
            <a:endCxn id="8" idx="2"/>
          </p:cNvCxnSpPr>
          <p:nvPr/>
        </p:nvCxnSpPr>
        <p:spPr>
          <a:xfrm flipH="1" flipV="1">
            <a:off x="4432817" y="1189866"/>
            <a:ext cx="926164" cy="5586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309414" y="8161465"/>
            <a:ext cx="435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</a:t>
            </a:r>
          </a:p>
        </p:txBody>
      </p:sp>
      <p:cxnSp>
        <p:nvCxnSpPr>
          <p:cNvPr id="94" name="Straight Arrow Connector 93"/>
          <p:cNvCxnSpPr>
            <a:stCxn id="86" idx="5"/>
            <a:endCxn id="93" idx="3"/>
          </p:cNvCxnSpPr>
          <p:nvPr/>
        </p:nvCxnSpPr>
        <p:spPr>
          <a:xfrm flipH="1" flipV="1">
            <a:off x="1745200" y="8484631"/>
            <a:ext cx="1178377" cy="1298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6" idx="4"/>
            <a:endCxn id="21" idx="0"/>
          </p:cNvCxnSpPr>
          <p:nvPr/>
        </p:nvCxnSpPr>
        <p:spPr>
          <a:xfrm>
            <a:off x="3678197" y="8807796"/>
            <a:ext cx="6350" cy="169210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2997600" y="5545110"/>
            <a:ext cx="1361195" cy="4523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smtClean="0">
                <a:latin typeface="Courier"/>
                <a:cs typeface="Courier"/>
              </a:rPr>
              <a:t>m</a:t>
            </a:r>
            <a:r>
              <a:rPr lang="en-US" sz="1000" b="1" dirty="0" smtClean="0"/>
              <a:t> </a:t>
            </a:r>
            <a:r>
              <a:rPr lang="en-US" sz="1000" dirty="0" smtClean="0"/>
              <a:t>equal to</a:t>
            </a:r>
            <a:r>
              <a:rPr lang="en-US" sz="1000" b="1" dirty="0" smtClean="0"/>
              <a:t> </a:t>
            </a:r>
            <a:r>
              <a:rPr lang="en-US" sz="1000" b="1" dirty="0" smtClean="0">
                <a:latin typeface="Courier"/>
                <a:cs typeface="Courier"/>
              </a:rPr>
              <a:t>x</a:t>
            </a:r>
            <a:endParaRPr lang="en-US" sz="1000" dirty="0">
              <a:latin typeface="Courier"/>
              <a:cs typeface="Courier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997600" y="3355845"/>
            <a:ext cx="1361195" cy="7869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Set </a:t>
            </a:r>
            <a:r>
              <a:rPr lang="en-US" sz="1000" b="1" dirty="0" smtClean="0">
                <a:latin typeface="Courier"/>
                <a:cs typeface="Courier"/>
              </a:rPr>
              <a:t>x</a:t>
            </a:r>
            <a:r>
              <a:rPr lang="en-US" sz="1000" b="1" dirty="0" smtClean="0"/>
              <a:t> </a:t>
            </a:r>
            <a:r>
              <a:rPr lang="en-US" sz="1000" dirty="0" smtClean="0"/>
              <a:t>to be equal to the item at position </a:t>
            </a:r>
            <a:r>
              <a:rPr lang="en-US" sz="1000" b="1" dirty="0" err="1">
                <a:latin typeface="Courier"/>
                <a:cs typeface="Courier"/>
              </a:rPr>
              <a:t>i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/>
              <a:t>in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endParaRPr lang="en-US" sz="1000" b="1" dirty="0">
              <a:latin typeface="Courier"/>
              <a:cs typeface="Courier"/>
            </a:endParaRPr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3678197" y="3156524"/>
            <a:ext cx="0" cy="19932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97600" y="6377610"/>
            <a:ext cx="1361195" cy="452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Increase </a:t>
            </a:r>
            <a:r>
              <a:rPr lang="en-US" sz="1000" b="1" dirty="0" err="1" smtClean="0">
                <a:latin typeface="Courier"/>
                <a:cs typeface="Courier"/>
              </a:rPr>
              <a:t>i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/>
              <a:t>by 1</a:t>
            </a:r>
            <a:endParaRPr lang="en-US" sz="1000" b="1" dirty="0"/>
          </a:p>
        </p:txBody>
      </p:sp>
      <p:sp>
        <p:nvSpPr>
          <p:cNvPr id="53" name="Diamond 52"/>
          <p:cNvSpPr/>
          <p:nvPr/>
        </p:nvSpPr>
        <p:spPr>
          <a:xfrm>
            <a:off x="2641837" y="7020421"/>
            <a:ext cx="2072721" cy="9569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err="1" smtClean="0">
                <a:latin typeface="Courier"/>
                <a:cs typeface="Courier"/>
              </a:rPr>
              <a:t>i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/>
              <a:t>&gt; size of </a:t>
            </a:r>
            <a:r>
              <a:rPr lang="en-US" sz="1000" b="1" dirty="0" err="1" smtClean="0">
                <a:latin typeface="Courier"/>
                <a:cs typeface="Courier"/>
              </a:rPr>
              <a:t>theList</a:t>
            </a:r>
            <a:r>
              <a:rPr lang="en-US" sz="1000" dirty="0" smtClean="0"/>
              <a:t>?</a:t>
            </a:r>
            <a:endParaRPr lang="en-US" sz="1000" dirty="0"/>
          </a:p>
        </p:txBody>
      </p:sp>
      <p:sp>
        <p:nvSpPr>
          <p:cNvPr id="55" name="Diamond 54"/>
          <p:cNvSpPr/>
          <p:nvPr/>
        </p:nvSpPr>
        <p:spPr>
          <a:xfrm>
            <a:off x="2641837" y="4362026"/>
            <a:ext cx="2072721" cy="956907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 smtClean="0">
                <a:latin typeface="Courier"/>
                <a:cs typeface="Courier"/>
              </a:rPr>
              <a:t>x</a:t>
            </a:r>
            <a:r>
              <a:rPr lang="en-US" sz="1000" b="1" dirty="0" smtClean="0"/>
              <a:t> </a:t>
            </a:r>
            <a:r>
              <a:rPr lang="en-US" sz="1000" b="1" dirty="0" smtClean="0"/>
              <a:t>&lt; </a:t>
            </a:r>
            <a:r>
              <a:rPr lang="en-US" sz="1000" b="1" dirty="0" smtClean="0">
                <a:latin typeface="Courier"/>
                <a:cs typeface="Courier"/>
              </a:rPr>
              <a:t>m</a:t>
            </a:r>
            <a:r>
              <a:rPr lang="en-US" sz="1000" b="1" dirty="0" smtClean="0"/>
              <a:t>?</a:t>
            </a:r>
            <a:endParaRPr lang="en-US" sz="1000" dirty="0"/>
          </a:p>
        </p:txBody>
      </p:sp>
      <p:cxnSp>
        <p:nvCxnSpPr>
          <p:cNvPr id="25" name="Elbow Connector 24"/>
          <p:cNvCxnSpPr>
            <a:stCxn id="55" idx="3"/>
            <a:endCxn id="52" idx="3"/>
          </p:cNvCxnSpPr>
          <p:nvPr/>
        </p:nvCxnSpPr>
        <p:spPr>
          <a:xfrm flipH="1">
            <a:off x="4358795" y="4840480"/>
            <a:ext cx="355763" cy="1763248"/>
          </a:xfrm>
          <a:prstGeom prst="bentConnector3">
            <a:avLst>
              <a:gd name="adj1" fmla="val -64256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3678197" y="4142764"/>
            <a:ext cx="0" cy="219262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>
            <a:off x="3678197" y="5318933"/>
            <a:ext cx="0" cy="226177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3678197" y="5997464"/>
            <a:ext cx="0" cy="380146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3678197" y="6829846"/>
            <a:ext cx="0" cy="190575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53" idx="3"/>
            <a:endCxn id="48" idx="3"/>
          </p:cNvCxnSpPr>
          <p:nvPr/>
        </p:nvCxnSpPr>
        <p:spPr>
          <a:xfrm flipH="1" flipV="1">
            <a:off x="4358795" y="3749305"/>
            <a:ext cx="355763" cy="3749570"/>
          </a:xfrm>
          <a:prstGeom prst="bentConnector3">
            <a:avLst>
              <a:gd name="adj1" fmla="val -16196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664955" y="5244536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88" name="TextBox 87"/>
          <p:cNvSpPr txBox="1"/>
          <p:nvPr/>
        </p:nvSpPr>
        <p:spPr>
          <a:xfrm>
            <a:off x="3721335" y="7915244"/>
            <a:ext cx="3566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yes</a:t>
            </a:r>
            <a:endParaRPr lang="en-US" sz="1000" dirty="0"/>
          </a:p>
        </p:txBody>
      </p:sp>
      <p:sp>
        <p:nvSpPr>
          <p:cNvPr id="91" name="TextBox 90"/>
          <p:cNvSpPr txBox="1"/>
          <p:nvPr/>
        </p:nvSpPr>
        <p:spPr>
          <a:xfrm>
            <a:off x="4666317" y="7248807"/>
            <a:ext cx="3196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no</a:t>
            </a:r>
            <a:endParaRPr lang="en-US" sz="1000" dirty="0"/>
          </a:p>
        </p:txBody>
      </p:sp>
      <p:sp>
        <p:nvSpPr>
          <p:cNvPr id="72" name="TextBox 71"/>
          <p:cNvSpPr txBox="1"/>
          <p:nvPr/>
        </p:nvSpPr>
        <p:spPr>
          <a:xfrm>
            <a:off x="240642" y="320853"/>
            <a:ext cx="13807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Practice Test</a:t>
            </a:r>
          </a:p>
          <a:p>
            <a:r>
              <a:rPr lang="en-US" dirty="0" smtClean="0"/>
              <a:t>Mystery </a:t>
            </a:r>
          </a:p>
          <a:p>
            <a:r>
              <a:rPr lang="en-US" dirty="0" smtClean="0"/>
              <a:t>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01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99762" y="93770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Start</a:t>
            </a:r>
            <a:endParaRPr lang="en-US" sz="1000" dirty="0"/>
          </a:p>
        </p:txBody>
      </p:sp>
      <p:sp>
        <p:nvSpPr>
          <p:cNvPr id="8" name="Parallelogram 7"/>
          <p:cNvSpPr/>
          <p:nvPr/>
        </p:nvSpPr>
        <p:spPr>
          <a:xfrm>
            <a:off x="2843110" y="867999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 smtClean="0"/>
              <a:t>Take a coin from the pile. Name it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21" name="Oval 20"/>
          <p:cNvSpPr/>
          <p:nvPr/>
        </p:nvSpPr>
        <p:spPr>
          <a:xfrm>
            <a:off x="3206112" y="9082830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End</a:t>
            </a:r>
            <a:endParaRPr lang="en-US" sz="10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678197" y="679172"/>
            <a:ext cx="0" cy="1888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678197" y="1511733"/>
            <a:ext cx="1" cy="20008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Parallelogram 85"/>
          <p:cNvSpPr/>
          <p:nvPr/>
        </p:nvSpPr>
        <p:spPr>
          <a:xfrm>
            <a:off x="5290590" y="1933575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Place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>
                <a:latin typeface="+mj-lt"/>
                <a:cs typeface="Courier"/>
              </a:rPr>
              <a:t>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b="1" dirty="0" err="1" smtClean="0">
                <a:latin typeface="Courier"/>
                <a:cs typeface="Courier"/>
              </a:rPr>
              <a:t>pennyBag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40642" y="320853"/>
            <a:ext cx="132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Coin Sorting </a:t>
            </a:r>
          </a:p>
          <a:p>
            <a:r>
              <a:rPr lang="en-US" dirty="0" smtClean="0"/>
              <a:t>Algorithm</a:t>
            </a:r>
            <a:endParaRPr lang="en-US" dirty="0"/>
          </a:p>
        </p:txBody>
      </p:sp>
      <p:sp>
        <p:nvSpPr>
          <p:cNvPr id="2" name="Diamond 1"/>
          <p:cNvSpPr/>
          <p:nvPr/>
        </p:nvSpPr>
        <p:spPr>
          <a:xfrm>
            <a:off x="2579775" y="1713053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latin typeface="Courier"/>
                <a:cs typeface="Courier"/>
              </a:rPr>
              <a:t>theCoin</a:t>
            </a:r>
            <a:r>
              <a:rPr lang="en-US" sz="1200" b="1" dirty="0" smtClean="0">
                <a:latin typeface="Courier"/>
                <a:cs typeface="Courier"/>
              </a:rPr>
              <a:t> </a:t>
            </a:r>
            <a:r>
              <a:rPr lang="en-US" sz="1200" b="1" dirty="0" smtClean="0">
                <a:latin typeface="+mj-lt"/>
                <a:cs typeface="Courier"/>
              </a:rPr>
              <a:t>is a penny?</a:t>
            </a:r>
            <a:endParaRPr lang="en-US" sz="1200" b="1" dirty="0">
              <a:latin typeface="+mj-lt"/>
              <a:cs typeface="Courier"/>
            </a:endParaRPr>
          </a:p>
        </p:txBody>
      </p:sp>
      <p:cxnSp>
        <p:nvCxnSpPr>
          <p:cNvPr id="4" name="Straight Arrow Connector 3"/>
          <p:cNvCxnSpPr>
            <a:stCxn id="2" idx="3"/>
            <a:endCxn id="86" idx="5"/>
          </p:cNvCxnSpPr>
          <p:nvPr/>
        </p:nvCxnSpPr>
        <p:spPr>
          <a:xfrm flipV="1">
            <a:off x="4748175" y="2255442"/>
            <a:ext cx="622882" cy="6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2" idx="2"/>
          </p:cNvCxnSpPr>
          <p:nvPr/>
        </p:nvCxnSpPr>
        <p:spPr>
          <a:xfrm>
            <a:off x="3663975" y="2810994"/>
            <a:ext cx="14223" cy="337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Diamond 15"/>
          <p:cNvSpPr/>
          <p:nvPr/>
        </p:nvSpPr>
        <p:spPr>
          <a:xfrm>
            <a:off x="2593998" y="7593268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Is pile empty?</a:t>
            </a:r>
            <a:endParaRPr lang="en-US" sz="1200" dirty="0"/>
          </a:p>
        </p:txBody>
      </p:sp>
      <p:cxnSp>
        <p:nvCxnSpPr>
          <p:cNvPr id="17" name="Straight Arrow Connector 16"/>
          <p:cNvCxnSpPr>
            <a:stCxn id="16" idx="2"/>
            <a:endCxn id="21" idx="0"/>
          </p:cNvCxnSpPr>
          <p:nvPr/>
        </p:nvCxnSpPr>
        <p:spPr>
          <a:xfrm>
            <a:off x="3678198" y="8691209"/>
            <a:ext cx="6349" cy="391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762398" y="1878410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3659714" y="2744854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4403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199762" y="93770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Start</a:t>
            </a:r>
            <a:endParaRPr lang="en-US" sz="1000" dirty="0"/>
          </a:p>
        </p:txBody>
      </p:sp>
      <p:sp>
        <p:nvSpPr>
          <p:cNvPr id="3" name="Parallelogram 2"/>
          <p:cNvSpPr/>
          <p:nvPr/>
        </p:nvSpPr>
        <p:spPr>
          <a:xfrm>
            <a:off x="2843110" y="867999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000" dirty="0" smtClean="0"/>
              <a:t>Take a coin from the pile. Name it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4" name="Oval 3"/>
          <p:cNvSpPr/>
          <p:nvPr/>
        </p:nvSpPr>
        <p:spPr>
          <a:xfrm>
            <a:off x="3245802" y="9003462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End</a:t>
            </a:r>
            <a:endParaRPr lang="en-US" sz="10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678197" y="679172"/>
            <a:ext cx="0" cy="1888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678197" y="1511733"/>
            <a:ext cx="1" cy="200081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arallelogram 6"/>
          <p:cNvSpPr/>
          <p:nvPr/>
        </p:nvSpPr>
        <p:spPr>
          <a:xfrm>
            <a:off x="5290590" y="1933575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Place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>
                <a:latin typeface="+mj-lt"/>
                <a:cs typeface="Courier"/>
              </a:rPr>
              <a:t>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b="1" dirty="0" err="1" smtClean="0">
                <a:latin typeface="Courier"/>
                <a:cs typeface="Courier"/>
              </a:rPr>
              <a:t>pennyBag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0642" y="320853"/>
            <a:ext cx="13227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Coin Sorting </a:t>
            </a:r>
          </a:p>
          <a:p>
            <a:r>
              <a:rPr lang="en-US" dirty="0" smtClean="0"/>
              <a:t>Algorithm</a:t>
            </a:r>
          </a:p>
          <a:p>
            <a:r>
              <a:rPr lang="en-US" i="1" dirty="0" smtClean="0"/>
              <a:t>Solution</a:t>
            </a:r>
            <a:endParaRPr lang="en-US" i="1" dirty="0"/>
          </a:p>
        </p:txBody>
      </p:sp>
      <p:sp>
        <p:nvSpPr>
          <p:cNvPr id="9" name="Diamond 8"/>
          <p:cNvSpPr/>
          <p:nvPr/>
        </p:nvSpPr>
        <p:spPr>
          <a:xfrm>
            <a:off x="2579775" y="1713053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latin typeface="Courier"/>
                <a:cs typeface="Courier"/>
              </a:rPr>
              <a:t>theCoin</a:t>
            </a:r>
            <a:r>
              <a:rPr lang="en-US" sz="1200" b="1" dirty="0" smtClean="0">
                <a:latin typeface="Courier"/>
                <a:cs typeface="Courier"/>
              </a:rPr>
              <a:t> </a:t>
            </a:r>
            <a:r>
              <a:rPr lang="en-US" sz="1200" b="1" dirty="0" smtClean="0">
                <a:latin typeface="+mj-lt"/>
                <a:cs typeface="Courier"/>
              </a:rPr>
              <a:t>is a penny?</a:t>
            </a:r>
            <a:endParaRPr lang="en-US" sz="1200" b="1" dirty="0">
              <a:latin typeface="+mj-lt"/>
              <a:cs typeface="Courier"/>
            </a:endParaRPr>
          </a:p>
        </p:txBody>
      </p:sp>
      <p:cxnSp>
        <p:nvCxnSpPr>
          <p:cNvPr id="10" name="Straight Arrow Connector 9"/>
          <p:cNvCxnSpPr>
            <a:stCxn id="9" idx="3"/>
            <a:endCxn id="7" idx="5"/>
          </p:cNvCxnSpPr>
          <p:nvPr/>
        </p:nvCxnSpPr>
        <p:spPr>
          <a:xfrm flipV="1">
            <a:off x="4748175" y="2255442"/>
            <a:ext cx="622882" cy="6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2"/>
          </p:cNvCxnSpPr>
          <p:nvPr/>
        </p:nvCxnSpPr>
        <p:spPr>
          <a:xfrm>
            <a:off x="3663975" y="2810994"/>
            <a:ext cx="14223" cy="337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2633688" y="7513900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Is pile empty?</a:t>
            </a:r>
            <a:endParaRPr lang="en-US" sz="1200" dirty="0"/>
          </a:p>
        </p:txBody>
      </p:sp>
      <p:cxnSp>
        <p:nvCxnSpPr>
          <p:cNvPr id="13" name="Straight Arrow Connector 12"/>
          <p:cNvCxnSpPr>
            <a:stCxn id="12" idx="2"/>
            <a:endCxn id="4" idx="0"/>
          </p:cNvCxnSpPr>
          <p:nvPr/>
        </p:nvCxnSpPr>
        <p:spPr>
          <a:xfrm>
            <a:off x="3717888" y="8611841"/>
            <a:ext cx="6349" cy="391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62398" y="1878410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3659714" y="2744854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16" name="Parallelogram 15"/>
          <p:cNvSpPr/>
          <p:nvPr/>
        </p:nvSpPr>
        <p:spPr>
          <a:xfrm>
            <a:off x="5311162" y="3368836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Place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>
                <a:latin typeface="+mj-lt"/>
                <a:cs typeface="Courier"/>
              </a:rPr>
              <a:t>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b="1" dirty="0" err="1" smtClean="0">
                <a:latin typeface="Courier"/>
                <a:cs typeface="Courier"/>
              </a:rPr>
              <a:t>nickelBag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17" name="Diamond 16"/>
          <p:cNvSpPr/>
          <p:nvPr/>
        </p:nvSpPr>
        <p:spPr>
          <a:xfrm>
            <a:off x="2600347" y="3148314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latin typeface="Courier"/>
                <a:cs typeface="Courier"/>
              </a:rPr>
              <a:t>theCoin</a:t>
            </a:r>
            <a:r>
              <a:rPr lang="en-US" sz="1200" b="1" dirty="0" smtClean="0">
                <a:latin typeface="Courier"/>
                <a:cs typeface="Courier"/>
              </a:rPr>
              <a:t> </a:t>
            </a:r>
            <a:r>
              <a:rPr lang="en-US" sz="1200" b="1" dirty="0" smtClean="0">
                <a:latin typeface="+mj-lt"/>
                <a:cs typeface="Courier"/>
              </a:rPr>
              <a:t>is a nickel?</a:t>
            </a:r>
            <a:endParaRPr lang="en-US" sz="1200" b="1" dirty="0">
              <a:latin typeface="+mj-lt"/>
              <a:cs typeface="Courier"/>
            </a:endParaRPr>
          </a:p>
        </p:txBody>
      </p:sp>
      <p:cxnSp>
        <p:nvCxnSpPr>
          <p:cNvPr id="18" name="Straight Arrow Connector 17"/>
          <p:cNvCxnSpPr>
            <a:stCxn id="17" idx="3"/>
            <a:endCxn id="16" idx="5"/>
          </p:cNvCxnSpPr>
          <p:nvPr/>
        </p:nvCxnSpPr>
        <p:spPr>
          <a:xfrm flipV="1">
            <a:off x="4768747" y="3690703"/>
            <a:ext cx="622882" cy="6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7" idx="2"/>
          </p:cNvCxnSpPr>
          <p:nvPr/>
        </p:nvCxnSpPr>
        <p:spPr>
          <a:xfrm>
            <a:off x="3684547" y="4246255"/>
            <a:ext cx="14223" cy="337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82970" y="3313671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3680286" y="4180115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22" name="Parallelogram 21"/>
          <p:cNvSpPr/>
          <p:nvPr/>
        </p:nvSpPr>
        <p:spPr>
          <a:xfrm>
            <a:off x="5325385" y="4819857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Place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>
                <a:latin typeface="+mj-lt"/>
                <a:cs typeface="Courier"/>
              </a:rPr>
              <a:t>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b="1" dirty="0" err="1" smtClean="0">
                <a:latin typeface="Courier"/>
                <a:cs typeface="Courier"/>
              </a:rPr>
              <a:t>dimeBag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23" name="Diamond 22"/>
          <p:cNvSpPr/>
          <p:nvPr/>
        </p:nvSpPr>
        <p:spPr>
          <a:xfrm>
            <a:off x="2614570" y="4599335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latin typeface="Courier"/>
                <a:cs typeface="Courier"/>
              </a:rPr>
              <a:t>theCoin</a:t>
            </a:r>
            <a:r>
              <a:rPr lang="en-US" sz="1200" b="1" dirty="0" smtClean="0">
                <a:latin typeface="Courier"/>
                <a:cs typeface="Courier"/>
              </a:rPr>
              <a:t> </a:t>
            </a:r>
            <a:r>
              <a:rPr lang="en-US" sz="1200" b="1" dirty="0" smtClean="0">
                <a:latin typeface="+mj-lt"/>
                <a:cs typeface="Courier"/>
              </a:rPr>
              <a:t>is a dime?</a:t>
            </a:r>
            <a:endParaRPr lang="en-US" sz="1200" b="1" dirty="0">
              <a:latin typeface="+mj-lt"/>
              <a:cs typeface="Courier"/>
            </a:endParaRPr>
          </a:p>
        </p:txBody>
      </p:sp>
      <p:cxnSp>
        <p:nvCxnSpPr>
          <p:cNvPr id="24" name="Straight Arrow Connector 23"/>
          <p:cNvCxnSpPr>
            <a:stCxn id="23" idx="3"/>
            <a:endCxn id="22" idx="5"/>
          </p:cNvCxnSpPr>
          <p:nvPr/>
        </p:nvCxnSpPr>
        <p:spPr>
          <a:xfrm flipV="1">
            <a:off x="4782970" y="5141724"/>
            <a:ext cx="622882" cy="6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3" idx="2"/>
          </p:cNvCxnSpPr>
          <p:nvPr/>
        </p:nvCxnSpPr>
        <p:spPr>
          <a:xfrm>
            <a:off x="3698770" y="5697276"/>
            <a:ext cx="14223" cy="337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97193" y="4764692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3694509" y="5631136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28" name="Parallelogram 27"/>
          <p:cNvSpPr/>
          <p:nvPr/>
        </p:nvSpPr>
        <p:spPr>
          <a:xfrm>
            <a:off x="5301534" y="6268346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Place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>
                <a:latin typeface="+mj-lt"/>
                <a:cs typeface="Courier"/>
              </a:rPr>
              <a:t>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b="1" dirty="0" err="1" smtClean="0">
                <a:latin typeface="Courier"/>
                <a:cs typeface="Courier"/>
              </a:rPr>
              <a:t>quarterBag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29" name="Diamond 28"/>
          <p:cNvSpPr/>
          <p:nvPr/>
        </p:nvSpPr>
        <p:spPr>
          <a:xfrm>
            <a:off x="2630409" y="6047824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latin typeface="Courier"/>
                <a:cs typeface="Courier"/>
              </a:rPr>
              <a:t>theCoin</a:t>
            </a:r>
            <a:r>
              <a:rPr lang="en-US" sz="1200" b="1" dirty="0" smtClean="0">
                <a:latin typeface="Courier"/>
                <a:cs typeface="Courier"/>
              </a:rPr>
              <a:t> </a:t>
            </a:r>
            <a:r>
              <a:rPr lang="en-US" sz="1200" b="1" dirty="0" smtClean="0">
                <a:latin typeface="+mj-lt"/>
                <a:cs typeface="Courier"/>
              </a:rPr>
              <a:t>is a quarter?</a:t>
            </a:r>
            <a:endParaRPr lang="en-US" sz="1200" b="1" dirty="0">
              <a:latin typeface="+mj-lt"/>
              <a:cs typeface="Courier"/>
            </a:endParaRPr>
          </a:p>
        </p:txBody>
      </p:sp>
      <p:cxnSp>
        <p:nvCxnSpPr>
          <p:cNvPr id="30" name="Straight Arrow Connector 29"/>
          <p:cNvCxnSpPr>
            <a:endCxn id="28" idx="5"/>
          </p:cNvCxnSpPr>
          <p:nvPr/>
        </p:nvCxnSpPr>
        <p:spPr>
          <a:xfrm flipV="1">
            <a:off x="4759119" y="6590213"/>
            <a:ext cx="622882" cy="6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9" idx="2"/>
            <a:endCxn id="12" idx="0"/>
          </p:cNvCxnSpPr>
          <p:nvPr/>
        </p:nvCxnSpPr>
        <p:spPr>
          <a:xfrm>
            <a:off x="3714609" y="7145765"/>
            <a:ext cx="3279" cy="368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73342" y="6213181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3687880" y="7145765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cxnSp>
        <p:nvCxnSpPr>
          <p:cNvPr id="34" name="Elbow Connector 33"/>
          <p:cNvCxnSpPr>
            <a:stCxn id="12" idx="1"/>
            <a:endCxn id="3" idx="5"/>
          </p:cNvCxnSpPr>
          <p:nvPr/>
        </p:nvCxnSpPr>
        <p:spPr>
          <a:xfrm rot="10800000" flipH="1">
            <a:off x="2633687" y="1189867"/>
            <a:ext cx="289889" cy="6873005"/>
          </a:xfrm>
          <a:prstGeom prst="bentConnector3">
            <a:avLst>
              <a:gd name="adj1" fmla="val -229460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66750" y="7759417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670059" y="8605506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cxnSp>
        <p:nvCxnSpPr>
          <p:cNvPr id="38" name="Elbow Connector 37"/>
          <p:cNvCxnSpPr>
            <a:stCxn id="7" idx="2"/>
            <a:endCxn id="12" idx="3"/>
          </p:cNvCxnSpPr>
          <p:nvPr/>
        </p:nvCxnSpPr>
        <p:spPr>
          <a:xfrm flipH="1">
            <a:off x="4802088" y="2255442"/>
            <a:ext cx="2078209" cy="5807429"/>
          </a:xfrm>
          <a:prstGeom prst="bentConnector3">
            <a:avLst>
              <a:gd name="adj1" fmla="val -14872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16" idx="2"/>
            <a:endCxn id="12" idx="3"/>
          </p:cNvCxnSpPr>
          <p:nvPr/>
        </p:nvCxnSpPr>
        <p:spPr>
          <a:xfrm flipH="1">
            <a:off x="4802088" y="3690703"/>
            <a:ext cx="2098781" cy="4372168"/>
          </a:xfrm>
          <a:prstGeom prst="bentConnector3">
            <a:avLst>
              <a:gd name="adj1" fmla="val -13465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22" idx="2"/>
            <a:endCxn id="12" idx="3"/>
          </p:cNvCxnSpPr>
          <p:nvPr/>
        </p:nvCxnSpPr>
        <p:spPr>
          <a:xfrm flipH="1">
            <a:off x="4802088" y="5141724"/>
            <a:ext cx="2113004" cy="2921147"/>
          </a:xfrm>
          <a:prstGeom prst="bentConnector3">
            <a:avLst>
              <a:gd name="adj1" fmla="val -12749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28" idx="2"/>
            <a:endCxn id="12" idx="3"/>
          </p:cNvCxnSpPr>
          <p:nvPr/>
        </p:nvCxnSpPr>
        <p:spPr>
          <a:xfrm flipH="1">
            <a:off x="4802088" y="6590213"/>
            <a:ext cx="2089153" cy="1472658"/>
          </a:xfrm>
          <a:prstGeom prst="bentConnector3">
            <a:avLst>
              <a:gd name="adj1" fmla="val -13527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20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199762" y="93770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Start</a:t>
            </a:r>
            <a:endParaRPr lang="en-US" sz="1000" dirty="0"/>
          </a:p>
        </p:txBody>
      </p:sp>
      <p:sp>
        <p:nvSpPr>
          <p:cNvPr id="3" name="Parallelogram 2"/>
          <p:cNvSpPr/>
          <p:nvPr/>
        </p:nvSpPr>
        <p:spPr>
          <a:xfrm>
            <a:off x="2777579" y="1611708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 smtClean="0"/>
              <a:t>Store result as </a:t>
            </a:r>
            <a:r>
              <a:rPr lang="en-US" sz="1200" b="1" dirty="0" err="1" smtClean="0"/>
              <a:t>theAnswer</a:t>
            </a:r>
            <a:endParaRPr lang="en-US" sz="1200" b="1" dirty="0"/>
          </a:p>
        </p:txBody>
      </p:sp>
      <p:sp>
        <p:nvSpPr>
          <p:cNvPr id="4" name="Oval 3"/>
          <p:cNvSpPr/>
          <p:nvPr/>
        </p:nvSpPr>
        <p:spPr>
          <a:xfrm>
            <a:off x="3245802" y="9003462"/>
            <a:ext cx="956870" cy="58540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End</a:t>
            </a:r>
            <a:endParaRPr lang="en-US" sz="10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678197" y="679172"/>
            <a:ext cx="0" cy="18882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40" idx="2"/>
            <a:endCxn id="3" idx="1"/>
          </p:cNvCxnSpPr>
          <p:nvPr/>
        </p:nvCxnSpPr>
        <p:spPr>
          <a:xfrm>
            <a:off x="3689301" y="1366952"/>
            <a:ext cx="3832" cy="244756"/>
          </a:xfrm>
          <a:prstGeom prst="straightConnector1">
            <a:avLst/>
          </a:prstGeom>
          <a:ln>
            <a:tailEnd type="arrow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0642" y="320853"/>
            <a:ext cx="13227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Coin Sorting </a:t>
            </a:r>
          </a:p>
          <a:p>
            <a:r>
              <a:rPr lang="en-US" dirty="0" smtClean="0"/>
              <a:t>Algorithm</a:t>
            </a:r>
          </a:p>
          <a:p>
            <a:r>
              <a:rPr lang="en-US" i="1" dirty="0" smtClean="0"/>
              <a:t>Solution</a:t>
            </a:r>
            <a:endParaRPr lang="en-US" i="1" dirty="0"/>
          </a:p>
        </p:txBody>
      </p:sp>
      <p:sp>
        <p:nvSpPr>
          <p:cNvPr id="12" name="Diamond 11"/>
          <p:cNvSpPr/>
          <p:nvPr/>
        </p:nvSpPr>
        <p:spPr>
          <a:xfrm>
            <a:off x="2633688" y="7513900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Is pile empty?</a:t>
            </a:r>
            <a:endParaRPr lang="en-US" sz="1200" dirty="0"/>
          </a:p>
        </p:txBody>
      </p:sp>
      <p:cxnSp>
        <p:nvCxnSpPr>
          <p:cNvPr id="13" name="Straight Arrow Connector 12"/>
          <p:cNvCxnSpPr>
            <a:stCxn id="12" idx="2"/>
            <a:endCxn id="4" idx="0"/>
          </p:cNvCxnSpPr>
          <p:nvPr/>
        </p:nvCxnSpPr>
        <p:spPr>
          <a:xfrm>
            <a:off x="3717888" y="8611841"/>
            <a:ext cx="6349" cy="3916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684547" y="4246255"/>
            <a:ext cx="14223" cy="337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80286" y="4180115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22" name="Parallelogram 21"/>
          <p:cNvSpPr/>
          <p:nvPr/>
        </p:nvSpPr>
        <p:spPr>
          <a:xfrm>
            <a:off x="5325385" y="4819857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Place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>
                <a:latin typeface="+mj-lt"/>
                <a:cs typeface="Courier"/>
              </a:rPr>
              <a:t>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b="1" dirty="0" err="1" smtClean="0">
                <a:latin typeface="Courier"/>
                <a:cs typeface="Courier"/>
              </a:rPr>
              <a:t>dimeBag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23" name="Diamond 22"/>
          <p:cNvSpPr/>
          <p:nvPr/>
        </p:nvSpPr>
        <p:spPr>
          <a:xfrm>
            <a:off x="2614570" y="4599335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ourier"/>
                <a:cs typeface="Courier"/>
              </a:rPr>
              <a:t>c</a:t>
            </a:r>
            <a:r>
              <a:rPr lang="en-US" sz="1200" b="1" dirty="0" smtClean="0">
                <a:latin typeface="Courier"/>
                <a:cs typeface="Courier"/>
              </a:rPr>
              <a:t> = ‘a’?</a:t>
            </a:r>
            <a:endParaRPr lang="en-US" sz="1200" b="1" dirty="0">
              <a:latin typeface="+mj-lt"/>
              <a:cs typeface="Courier"/>
            </a:endParaRPr>
          </a:p>
        </p:txBody>
      </p:sp>
      <p:cxnSp>
        <p:nvCxnSpPr>
          <p:cNvPr id="24" name="Straight Arrow Connector 23"/>
          <p:cNvCxnSpPr>
            <a:stCxn id="23" idx="3"/>
            <a:endCxn id="22" idx="5"/>
          </p:cNvCxnSpPr>
          <p:nvPr/>
        </p:nvCxnSpPr>
        <p:spPr>
          <a:xfrm flipV="1">
            <a:off x="4782970" y="5141724"/>
            <a:ext cx="622882" cy="6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3" idx="2"/>
          </p:cNvCxnSpPr>
          <p:nvPr/>
        </p:nvCxnSpPr>
        <p:spPr>
          <a:xfrm>
            <a:off x="3698770" y="5697276"/>
            <a:ext cx="14223" cy="3373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97193" y="4764692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3694509" y="5631136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28" name="Parallelogram 27"/>
          <p:cNvSpPr/>
          <p:nvPr/>
        </p:nvSpPr>
        <p:spPr>
          <a:xfrm>
            <a:off x="5301534" y="6268346"/>
            <a:ext cx="1670174" cy="643734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Place </a:t>
            </a:r>
            <a:r>
              <a:rPr lang="en-US" sz="1000" b="1" dirty="0" err="1" smtClean="0">
                <a:latin typeface="Courier"/>
                <a:cs typeface="Courier"/>
              </a:rPr>
              <a:t>theCoin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dirty="0" smtClean="0">
                <a:latin typeface="+mj-lt"/>
                <a:cs typeface="Courier"/>
              </a:rPr>
              <a:t>in</a:t>
            </a:r>
            <a:r>
              <a:rPr lang="en-US" sz="1000" b="1" dirty="0" smtClean="0">
                <a:latin typeface="Courier"/>
                <a:cs typeface="Courier"/>
              </a:rPr>
              <a:t> </a:t>
            </a:r>
            <a:r>
              <a:rPr lang="en-US" sz="1000" b="1" dirty="0" err="1" smtClean="0">
                <a:latin typeface="Courier"/>
                <a:cs typeface="Courier"/>
              </a:rPr>
              <a:t>quarterBag</a:t>
            </a:r>
            <a:endParaRPr lang="en-US" sz="1000" b="1" dirty="0">
              <a:latin typeface="Courier"/>
              <a:cs typeface="Courier"/>
            </a:endParaRPr>
          </a:p>
        </p:txBody>
      </p:sp>
      <p:sp>
        <p:nvSpPr>
          <p:cNvPr id="29" name="Diamond 28"/>
          <p:cNvSpPr/>
          <p:nvPr/>
        </p:nvSpPr>
        <p:spPr>
          <a:xfrm>
            <a:off x="2630409" y="6047824"/>
            <a:ext cx="2168400" cy="109794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err="1" smtClean="0">
                <a:latin typeface="Courier"/>
                <a:cs typeface="Courier"/>
              </a:rPr>
              <a:t>theCoin</a:t>
            </a:r>
            <a:r>
              <a:rPr lang="en-US" sz="1200" b="1" dirty="0" smtClean="0">
                <a:latin typeface="Courier"/>
                <a:cs typeface="Courier"/>
              </a:rPr>
              <a:t> </a:t>
            </a:r>
            <a:r>
              <a:rPr lang="en-US" sz="1200" b="1" dirty="0" smtClean="0">
                <a:latin typeface="+mj-lt"/>
                <a:cs typeface="Courier"/>
              </a:rPr>
              <a:t>is a quarter?</a:t>
            </a:r>
            <a:endParaRPr lang="en-US" sz="1200" b="1" dirty="0">
              <a:latin typeface="+mj-lt"/>
              <a:cs typeface="Courier"/>
            </a:endParaRPr>
          </a:p>
        </p:txBody>
      </p:sp>
      <p:cxnSp>
        <p:nvCxnSpPr>
          <p:cNvPr id="30" name="Straight Arrow Connector 29"/>
          <p:cNvCxnSpPr>
            <a:endCxn id="28" idx="5"/>
          </p:cNvCxnSpPr>
          <p:nvPr/>
        </p:nvCxnSpPr>
        <p:spPr>
          <a:xfrm flipV="1">
            <a:off x="4759119" y="6590213"/>
            <a:ext cx="622882" cy="65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9" idx="2"/>
            <a:endCxn id="12" idx="0"/>
          </p:cNvCxnSpPr>
          <p:nvPr/>
        </p:nvCxnSpPr>
        <p:spPr>
          <a:xfrm>
            <a:off x="3714609" y="7145765"/>
            <a:ext cx="3279" cy="3681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73342" y="6213181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3687880" y="7145765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cxnSp>
        <p:nvCxnSpPr>
          <p:cNvPr id="34" name="Elbow Connector 33"/>
          <p:cNvCxnSpPr>
            <a:stCxn id="12" idx="1"/>
            <a:endCxn id="3" idx="5"/>
          </p:cNvCxnSpPr>
          <p:nvPr/>
        </p:nvCxnSpPr>
        <p:spPr>
          <a:xfrm rot="10800000" flipH="1">
            <a:off x="2633688" y="1933575"/>
            <a:ext cx="224358" cy="6129296"/>
          </a:xfrm>
          <a:prstGeom prst="bentConnector3">
            <a:avLst>
              <a:gd name="adj1" fmla="val -101891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66750" y="7759417"/>
            <a:ext cx="346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no</a:t>
            </a:r>
            <a:endParaRPr 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3670059" y="8605506"/>
            <a:ext cx="3910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yes</a:t>
            </a:r>
            <a:endParaRPr lang="en-US" sz="1200" dirty="0"/>
          </a:p>
        </p:txBody>
      </p:sp>
      <p:cxnSp>
        <p:nvCxnSpPr>
          <p:cNvPr id="38" name="Elbow Connector 37"/>
          <p:cNvCxnSpPr>
            <a:endCxn id="12" idx="3"/>
          </p:cNvCxnSpPr>
          <p:nvPr/>
        </p:nvCxnSpPr>
        <p:spPr>
          <a:xfrm flipH="1">
            <a:off x="4802088" y="2255442"/>
            <a:ext cx="2078209" cy="5807429"/>
          </a:xfrm>
          <a:prstGeom prst="bentConnector3">
            <a:avLst>
              <a:gd name="adj1" fmla="val -14872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endCxn id="12" idx="3"/>
          </p:cNvCxnSpPr>
          <p:nvPr/>
        </p:nvCxnSpPr>
        <p:spPr>
          <a:xfrm flipH="1">
            <a:off x="4802088" y="3690703"/>
            <a:ext cx="2098781" cy="4372168"/>
          </a:xfrm>
          <a:prstGeom prst="bentConnector3">
            <a:avLst>
              <a:gd name="adj1" fmla="val -13465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22" idx="2"/>
            <a:endCxn id="12" idx="3"/>
          </p:cNvCxnSpPr>
          <p:nvPr/>
        </p:nvCxnSpPr>
        <p:spPr>
          <a:xfrm flipH="1">
            <a:off x="4802088" y="5141724"/>
            <a:ext cx="2113004" cy="2921147"/>
          </a:xfrm>
          <a:prstGeom prst="bentConnector3">
            <a:avLst>
              <a:gd name="adj1" fmla="val -12749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28" idx="2"/>
            <a:endCxn id="12" idx="3"/>
          </p:cNvCxnSpPr>
          <p:nvPr/>
        </p:nvCxnSpPr>
        <p:spPr>
          <a:xfrm flipH="1">
            <a:off x="4802088" y="6590213"/>
            <a:ext cx="2089153" cy="1472658"/>
          </a:xfrm>
          <a:prstGeom prst="bentConnector3">
            <a:avLst>
              <a:gd name="adj1" fmla="val -13527"/>
            </a:avLst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44150" y="867999"/>
            <a:ext cx="1490302" cy="498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Ask user: input a word</a:t>
            </a:r>
            <a:endParaRPr lang="en-US" sz="1200" dirty="0"/>
          </a:p>
        </p:txBody>
      </p:sp>
      <p:sp>
        <p:nvSpPr>
          <p:cNvPr id="47" name="Rectangle 46"/>
          <p:cNvSpPr/>
          <p:nvPr/>
        </p:nvSpPr>
        <p:spPr>
          <a:xfrm>
            <a:off x="2924647" y="2538039"/>
            <a:ext cx="1490302" cy="498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Set </a:t>
            </a:r>
            <a:r>
              <a:rPr lang="en-US" sz="1200" dirty="0" err="1" smtClean="0"/>
              <a:t>i</a:t>
            </a:r>
            <a:r>
              <a:rPr lang="en-US" sz="1200" dirty="0" smtClean="0"/>
              <a:t> = 1</a:t>
            </a:r>
            <a:endParaRPr lang="en-US" sz="1200" dirty="0"/>
          </a:p>
        </p:txBody>
      </p:sp>
      <p:sp>
        <p:nvSpPr>
          <p:cNvPr id="48" name="Rectangle 47"/>
          <p:cNvSpPr/>
          <p:nvPr/>
        </p:nvSpPr>
        <p:spPr>
          <a:xfrm>
            <a:off x="2927634" y="3271663"/>
            <a:ext cx="1490302" cy="646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Set </a:t>
            </a:r>
            <a:r>
              <a:rPr lang="en-US" sz="1200" dirty="0"/>
              <a:t>c</a:t>
            </a:r>
            <a:r>
              <a:rPr lang="en-US" sz="1200" dirty="0" smtClean="0"/>
              <a:t> = letter at position </a:t>
            </a:r>
            <a:r>
              <a:rPr lang="en-US" sz="1200" dirty="0" err="1" smtClean="0"/>
              <a:t>i</a:t>
            </a:r>
            <a:r>
              <a:rPr lang="en-US" sz="1200" dirty="0" smtClean="0"/>
              <a:t> of </a:t>
            </a:r>
            <a:r>
              <a:rPr lang="en-US" sz="1200" dirty="0" err="1" smtClean="0"/>
              <a:t>theAnswer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19423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68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392</Words>
  <Application>Microsoft Macintosh PowerPoint</Application>
  <PresentationFormat>Custom</PresentationFormat>
  <Paragraphs>120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Michigan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Newman</dc:creator>
  <cp:lastModifiedBy>Mark Newman</cp:lastModifiedBy>
  <cp:revision>17</cp:revision>
  <cp:lastPrinted>2016-04-15T16:01:30Z</cp:lastPrinted>
  <dcterms:created xsi:type="dcterms:W3CDTF">2016-04-14T15:27:00Z</dcterms:created>
  <dcterms:modified xsi:type="dcterms:W3CDTF">2016-04-20T03:56:25Z</dcterms:modified>
</cp:coreProperties>
</file>